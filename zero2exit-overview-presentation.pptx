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" y="-182880"/>
            <a:ext cx="3840480" cy="5509260"/>
          </a:xfrm>
          <a:prstGeom prst="rect">
            <a:avLst/>
          </a:prstGeom>
          <a:solidFill>
            <a:srgbClr val="060A12"/>
          </a:solidFill>
          <a:ln w="12700">
            <a:solidFill>
              <a:srgbClr val="060A1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0" y="-1371600"/>
            <a:ext cx="5029200" cy="5029200"/>
          </a:xfrm>
          <a:prstGeom prst="ellipse">
            <a:avLst/>
          </a:prstGeom>
          <a:solidFill>
            <a:srgbClr val="0D1A30"/>
          </a:solidFill>
          <a:ln w="12700">
            <a:solidFill>
              <a:srgbClr val="1A2E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-731520"/>
            <a:ext cx="3840480" cy="3840480"/>
          </a:xfrm>
          <a:prstGeom prst="ellipse">
            <a:avLst/>
          </a:prstGeom>
          <a:solidFill>
            <a:srgbClr val="111E34"/>
          </a:solidFill>
          <a:ln w="6350">
            <a:solidFill>
              <a:srgbClr val="1E3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65760" y="196596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2Exit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384048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OVERVIEW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84048" y="3310128"/>
            <a:ext cx="1097280" cy="36576"/>
          </a:xfrm>
          <a:prstGeom prst="rect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3401568"/>
            <a:ext cx="5029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Founder Operating System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to Exit — One Platform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303520" y="14630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5303520" y="2121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32320" y="14630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7132320" y="21214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Stages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303520" y="27432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5303520" y="3401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132320" y="27432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7132320" y="3401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Engine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 Are Navigating Alone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33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 is fragmented, expensive, and generic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50292" cy="10972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527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Advisors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1819656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Lawyers, consultants, and agencies charge by the hour with no accountability for outcomes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41732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417320"/>
            <a:ext cx="50292" cy="10972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37360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5270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Tools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440680" y="1819656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Notion, spreadsheets, Google Docs, and 10 SaaS tools that don't talk to each other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65760" y="278892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2788920"/>
            <a:ext cx="50292" cy="10972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10896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51560" y="28986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Stage Awareness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1051560" y="3191256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advice that doesn't account for whether you're at idea stage or Series A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754880" y="2788920"/>
            <a:ext cx="4114800" cy="1097280"/>
          </a:xfrm>
          <a:prstGeom prst="roundRect">
            <a:avLst>
              <a:gd name="adj" fmla="val 5000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754880" y="2788920"/>
            <a:ext cx="50292" cy="1097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108960"/>
            <a:ext cx="384048" cy="38404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440680" y="289864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Complexity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40680" y="3191256"/>
            <a:ext cx="3246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jurisdictions, Arabic/English, and unique regulatory environments with no unified guidance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0" y="4526280"/>
            <a:ext cx="9144000" cy="61722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914400" y="4572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$50K+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914400" y="4846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early-stage advisory spend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3749040" y="4572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</a:t>
            </a:r>
            <a:endParaRPr lang="en-US" sz="1600" dirty="0"/>
          </a:p>
        </p:txBody>
      </p:sp>
      <p:sp>
        <p:nvSpPr>
          <p:cNvPr id="30" name="Text 24"/>
          <p:cNvSpPr/>
          <p:nvPr/>
        </p:nvSpPr>
        <p:spPr>
          <a:xfrm>
            <a:off x="3749040" y="4846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time from idea to first revenue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6583680" y="45720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6583680" y="48463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founders abandon due to structuring confusion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Zero2Exit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to exit.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3017520"/>
            <a:ext cx="3337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stage-adaptive AI operating system that gives every founder a personalised roadmap, automated tooling, and expert-grade outputs — without needing expensive advisors.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69080" y="822960"/>
            <a:ext cx="4846320" cy="1097280"/>
          </a:xfrm>
          <a:prstGeom prst="roundRect">
            <a:avLst>
              <a:gd name="adj" fmla="val 5000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069080" y="822960"/>
            <a:ext cx="50292" cy="1097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91440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54880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Stage-Adaptive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54880" y="128016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detects your stage and activates only what you need. No wasted time.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069080" y="2103120"/>
            <a:ext cx="4846320" cy="1097280"/>
          </a:xfrm>
          <a:prstGeom prst="roundRect">
            <a:avLst>
              <a:gd name="adj" fmla="val 5000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069080" y="2103120"/>
            <a:ext cx="50292" cy="10972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219456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2194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Outputs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25603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produces investor-grade documents, plans, and recommendations.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069080" y="3383280"/>
            <a:ext cx="4846320" cy="1097280"/>
          </a:xfrm>
          <a:prstGeom prst="roundRect">
            <a:avLst>
              <a:gd name="adj" fmla="val 5000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069080" y="3383280"/>
            <a:ext cx="50292" cy="1097280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3474720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54880" y="3474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54880" y="38404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GTM, product, ops, and exit — one platform, one account, full continuity.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Onboarding to Exit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33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intelligent flow — stage-adaptive from day one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645920"/>
            <a:ext cx="960120" cy="914400"/>
          </a:xfrm>
          <a:prstGeom prst="rect">
            <a:avLst/>
          </a:prstGeom>
          <a:solidFill>
            <a:srgbClr val="0F1F06"/>
          </a:solidFill>
          <a:ln w="12700">
            <a:solidFill>
              <a:srgbClr val="A8E0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645920"/>
            <a:ext cx="960120" cy="109728"/>
          </a:xfrm>
          <a:prstGeom prst="rect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77393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GW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47472" y="199339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307592" y="2103120"/>
            <a:ext cx="10972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17320" y="1645920"/>
            <a:ext cx="960120" cy="914400"/>
          </a:xfrm>
          <a:prstGeom prst="rect">
            <a:avLst/>
          </a:prstGeom>
          <a:solidFill>
            <a:srgbClr val="060F1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417320" y="1645920"/>
            <a:ext cx="96012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177393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417320" y="199339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Routing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377440" y="2103120"/>
            <a:ext cx="10972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87168" y="1645920"/>
            <a:ext cx="960120" cy="914400"/>
          </a:xfrm>
          <a:prstGeom prst="rect">
            <a:avLst/>
          </a:prstGeom>
          <a:solidFill>
            <a:srgbClr val="060F1A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87168" y="1645920"/>
            <a:ext cx="96012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87168" y="177393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87168" y="199339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47288" y="2103120"/>
            <a:ext cx="10972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57016" y="1645920"/>
            <a:ext cx="960120" cy="914400"/>
          </a:xfrm>
          <a:prstGeom prst="rect">
            <a:avLst/>
          </a:prstGeom>
          <a:solidFill>
            <a:srgbClr val="0D0D1F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557016" y="1645920"/>
            <a:ext cx="960120" cy="1097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57016" y="177393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557016" y="199339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17136" y="2103120"/>
            <a:ext cx="10972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26864" y="1645920"/>
            <a:ext cx="960120" cy="914400"/>
          </a:xfrm>
          <a:prstGeom prst="rect">
            <a:avLst/>
          </a:prstGeom>
          <a:solidFill>
            <a:srgbClr val="1F0F06"/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26864" y="1645920"/>
            <a:ext cx="960120" cy="1097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26864" y="177393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626864" y="199339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86984" y="2103120"/>
            <a:ext cx="10972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96712" y="1645920"/>
            <a:ext cx="960120" cy="914400"/>
          </a:xfrm>
          <a:prstGeom prst="rect">
            <a:avLst/>
          </a:prstGeom>
          <a:solidFill>
            <a:srgbClr val="1F0610"/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696712" y="1645920"/>
            <a:ext cx="960120" cy="109728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96712" y="177393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696712" y="199339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656832" y="2103120"/>
            <a:ext cx="10972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66560" y="1645920"/>
            <a:ext cx="960120" cy="914400"/>
          </a:xfrm>
          <a:prstGeom prst="rect">
            <a:avLst/>
          </a:prstGeom>
          <a:solidFill>
            <a:srgbClr val="061A10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766560" y="1645920"/>
            <a:ext cx="960120" cy="10972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66560" y="177393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766560" y="199339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ERP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726680" y="2103120"/>
            <a:ext cx="10972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36408" y="1645920"/>
            <a:ext cx="960120" cy="914400"/>
          </a:xfrm>
          <a:prstGeom prst="rect">
            <a:avLst/>
          </a:prstGeom>
          <a:solidFill>
            <a:srgbClr val="1A0620"/>
          </a:solidFill>
          <a:ln w="12700">
            <a:solidFill>
              <a:srgbClr val="E879F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836408" y="1645920"/>
            <a:ext cx="960120" cy="109728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36408" y="177393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836408" y="1993392"/>
            <a:ext cx="960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PRINCIPLE: Legal follows Validation — you structure an entity around a validated idea, not before.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" y="4361688"/>
            <a:ext cx="91440" cy="91440"/>
          </a:xfrm>
          <a:prstGeom prst="ellipse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42793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is mandatory before account creation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48640" y="4681728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31520" y="459943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re-evaluates founder stage every 30 days + at each module completion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48640" y="5001768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" y="491947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Prior-stage modules remain accessible as optional audits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ROUTING ENGINE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411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— At the Core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Zero2Exit's AI Routing Engine processes your onboarding questionnaire and generates a personalised module activation plan — in under 3 seconds.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2770632"/>
            <a:ext cx="274320" cy="2743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770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49808" y="277977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83080" y="2779776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12–18 question gateway — no account until complete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3776" y="3044952"/>
            <a:ext cx="0" cy="182880"/>
          </a:xfrm>
          <a:prstGeom prst="line">
            <a:avLst/>
          </a:prstGeom>
          <a:noFill/>
          <a:ln w="12700">
            <a:solidFill>
              <a:srgbClr val="1E2D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3209544"/>
            <a:ext cx="274320" cy="2743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32186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across 6 dimensions (industry, capital, product readiness...)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3776" y="3483864"/>
            <a:ext cx="0" cy="182880"/>
          </a:xfrm>
          <a:prstGeom prst="line">
            <a:avLst/>
          </a:prstGeom>
          <a:noFill/>
          <a:ln w="12700">
            <a:solidFill>
              <a:srgbClr val="1E2D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648456"/>
            <a:ext cx="274320" cy="2743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6484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49808" y="36576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783080" y="3657600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stage, generate ordered module activation plan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93776" y="3922776"/>
            <a:ext cx="0" cy="182880"/>
          </a:xfrm>
          <a:prstGeom prst="line">
            <a:avLst/>
          </a:prstGeom>
          <a:noFill/>
          <a:ln w="12700">
            <a:solidFill>
              <a:srgbClr val="1E2D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4087368"/>
            <a:ext cx="274320" cy="2743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0873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49808" y="40965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783080" y="4096512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renders personalised journey + Coach pre-loaded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93776" y="4361688"/>
            <a:ext cx="0" cy="182880"/>
          </a:xfrm>
          <a:prstGeom prst="line">
            <a:avLst/>
          </a:prstGeom>
          <a:noFill/>
          <a:ln w="12700">
            <a:solidFill>
              <a:srgbClr val="1E2D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526280"/>
            <a:ext cx="274320" cy="27432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52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9808" y="453542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783080" y="4535424"/>
            <a:ext cx="2606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Re-score every 30 days &amp; on module completion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63440" y="411480"/>
            <a:ext cx="4206240" cy="4320540"/>
          </a:xfrm>
          <a:prstGeom prst="rect">
            <a:avLst/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411480"/>
            <a:ext cx="420624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548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 OUTPUT</a:t>
            </a:r>
            <a:endParaRPr lang="en-US" sz="9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960120"/>
            <a:ext cx="256032" cy="256032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5166360" y="9509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founder stage label</a:t>
            </a:r>
            <a:endParaRPr lang="en-US" sz="1050" dirty="0"/>
          </a:p>
        </p:txBody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1435608"/>
            <a:ext cx="256032" cy="256032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5166360" y="14264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module activation sequence</a:t>
            </a:r>
            <a:endParaRPr lang="en-US" sz="1050" dirty="0"/>
          </a:p>
        </p:txBody>
      </p:sp>
      <p:pic>
        <p:nvPicPr>
          <p:cNvPr id="3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911096"/>
            <a:ext cx="256032" cy="256032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166360" y="1901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modules flagged with optional audit access</a:t>
            </a:r>
            <a:endParaRPr lang="en-US" sz="1050" dirty="0"/>
          </a:p>
        </p:txBody>
      </p:sp>
      <p:pic>
        <p:nvPicPr>
          <p:cNvPr id="3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2386584"/>
            <a:ext cx="256032" cy="256032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5166360" y="23774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 recommended actions on dashboard</a:t>
            </a:r>
            <a:endParaRPr lang="en-US" sz="105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2862072"/>
            <a:ext cx="256032" cy="25603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5166360" y="28529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pre-loaded with full questionnaire context</a:t>
            </a:r>
            <a:endParaRPr lang="en-US" sz="1050" dirty="0"/>
          </a:p>
        </p:txBody>
      </p:sp>
      <p:pic>
        <p:nvPicPr>
          <p:cNvPr id="4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0" y="3337560"/>
            <a:ext cx="256032" cy="25603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5166360" y="33284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jurisdiction shortlist (2–3 options)</a:t>
            </a:r>
            <a:endParaRPr lang="en-US" sz="1050" dirty="0"/>
          </a:p>
        </p:txBody>
      </p:sp>
      <p:pic>
        <p:nvPicPr>
          <p:cNvPr id="4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3813048"/>
            <a:ext cx="256032" cy="256032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5166360" y="38039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time-to-value per active module</a:t>
            </a:r>
            <a:endParaRPr lang="en-US" sz="1050" dirty="0"/>
          </a:p>
        </p:txBody>
      </p:sp>
      <p:sp>
        <p:nvSpPr>
          <p:cNvPr id="47" name="Text 38"/>
          <p:cNvSpPr/>
          <p:nvPr/>
        </p:nvSpPr>
        <p:spPr>
          <a:xfrm>
            <a:off x="4754880" y="43434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If AI confidence &lt; 75%, present manual stage selector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FOUNDER STAGES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Founder Enters at Their Stage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33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adapts — not the founder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" y="1417320"/>
            <a:ext cx="1600200" cy="2926080"/>
          </a:xfrm>
          <a:prstGeom prst="rect">
            <a:avLst/>
          </a:prstGeom>
          <a:solidFill>
            <a:srgbClr val="0D1321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1417320"/>
            <a:ext cx="1600200" cy="2743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7099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83464" y="224028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3464" y="2514600"/>
            <a:ext cx="1490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7889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only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entity or product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65760" y="3474720"/>
            <a:ext cx="1325880" cy="256032"/>
          </a:xfrm>
          <a:prstGeom prst="roundRect">
            <a:avLst>
              <a:gd name="adj" fmla="val 35714"/>
            </a:avLst>
          </a:prstGeom>
          <a:solidFill>
            <a:srgbClr val="38BDF8">
              <a:alpha val="20000"/>
            </a:srgbClr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4747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M01–M04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984248" y="1417320"/>
            <a:ext cx="1600200" cy="2926080"/>
          </a:xfrm>
          <a:prstGeom prst="rect">
            <a:avLst/>
          </a:prstGeom>
          <a:solidFill>
            <a:srgbClr val="0D1321"/>
          </a:solidFill>
          <a:ln w="1270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984248" y="1417320"/>
            <a:ext cx="1600200" cy="27432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84248" y="17099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🌱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039112" y="224028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75688" y="27889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idea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Building, no entity yet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121408" y="3474720"/>
            <a:ext cx="1325880" cy="256032"/>
          </a:xfrm>
          <a:prstGeom prst="roundRect">
            <a:avLst>
              <a:gd name="adj" fmla="val 35714"/>
            </a:avLst>
          </a:prstGeom>
          <a:solidFill>
            <a:srgbClr val="818CF8">
              <a:alpha val="20000"/>
            </a:srgbClr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21408" y="34747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M01–M04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739896" y="1417320"/>
            <a:ext cx="1600200" cy="2926080"/>
          </a:xfrm>
          <a:prstGeom prst="rect">
            <a:avLst/>
          </a:prstGeom>
          <a:solidFill>
            <a:srgbClr val="0D1321"/>
          </a:solidFill>
          <a:ln w="12700">
            <a:solidFill>
              <a:srgbClr val="FB92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39896" y="1417320"/>
            <a:ext cx="1600200" cy="27432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9896" y="17099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794760" y="224028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94760" y="2514600"/>
            <a:ext cx="1490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MVP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31336" y="27889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formed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in progress or live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877056" y="3474720"/>
            <a:ext cx="1325880" cy="256032"/>
          </a:xfrm>
          <a:prstGeom prst="roundRect">
            <a:avLst>
              <a:gd name="adj" fmla="val 35714"/>
            </a:avLst>
          </a:prstGeom>
          <a:solidFill>
            <a:srgbClr val="FB923C">
              <a:alpha val="20000"/>
            </a:srgbClr>
          </a:solidFill>
          <a:ln w="6350">
            <a:solidFill>
              <a:srgbClr val="FB92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77056" y="34747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M02–M05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95544" y="1417320"/>
            <a:ext cx="1600200" cy="2926080"/>
          </a:xfrm>
          <a:prstGeom prst="rect">
            <a:avLst/>
          </a:prstGeom>
          <a:solidFill>
            <a:srgbClr val="0D1321"/>
          </a:solidFill>
          <a:ln w="12700">
            <a:solidFill>
              <a:srgbClr val="34D39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495544" y="1417320"/>
            <a:ext cx="1600200" cy="2743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95544" y="17099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550408" y="224028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550408" y="2514600"/>
            <a:ext cx="1490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586984" y="27889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generating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hired, scaling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632704" y="3474720"/>
            <a:ext cx="1325880" cy="256032"/>
          </a:xfrm>
          <a:prstGeom prst="roundRect">
            <a:avLst>
              <a:gd name="adj" fmla="val 35714"/>
            </a:avLst>
          </a:prstGeom>
          <a:solidFill>
            <a:srgbClr val="34D399">
              <a:alpha val="20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32704" y="34747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M03, M05–M06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251192" y="1417320"/>
            <a:ext cx="1600200" cy="2926080"/>
          </a:xfrm>
          <a:prstGeom prst="rect">
            <a:avLst/>
          </a:prstGeom>
          <a:solidFill>
            <a:srgbClr val="0D1321"/>
          </a:solidFill>
          <a:ln w="12700">
            <a:solidFill>
              <a:srgbClr val="E879F9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251192" y="1417320"/>
            <a:ext cx="1600200" cy="274320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51192" y="170992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2400" dirty="0"/>
          </a:p>
        </p:txBody>
      </p:sp>
      <p:sp>
        <p:nvSpPr>
          <p:cNvPr id="40" name="Text 38"/>
          <p:cNvSpPr/>
          <p:nvPr/>
        </p:nvSpPr>
        <p:spPr>
          <a:xfrm>
            <a:off x="7306056" y="2240280"/>
            <a:ext cx="1490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7306056" y="2514600"/>
            <a:ext cx="1490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Pre-Exit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42632" y="2788920"/>
            <a:ext cx="1417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Profitable/Series A+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exit horizon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388352" y="3474720"/>
            <a:ext cx="1325880" cy="256032"/>
          </a:xfrm>
          <a:prstGeom prst="roundRect">
            <a:avLst>
              <a:gd name="adj" fmla="val 35714"/>
            </a:avLst>
          </a:prstGeom>
          <a:solidFill>
            <a:srgbClr val="E879F9">
              <a:alpha val="20000"/>
            </a:srgbClr>
          </a:solidFill>
          <a:ln w="6350">
            <a:solidFill>
              <a:srgbClr val="E879F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388352" y="34747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M05–M06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Routing Engine re-evaluates your stage every 30 days and after each module completion — automatically unlocking the next modules as you progress.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ACTIVATION MATRIX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× Module Matrix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33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gets unlocked — and when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1143000"/>
            <a:ext cx="6583680" cy="530352"/>
          </a:xfrm>
          <a:prstGeom prst="rect">
            <a:avLst/>
          </a:prstGeom>
          <a:solidFill>
            <a:srgbClr val="111C2E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1143000"/>
            <a:ext cx="940526" cy="731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1234440"/>
            <a:ext cx="9405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80806" y="1143000"/>
            <a:ext cx="940526" cy="7315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80806" y="1234440"/>
            <a:ext cx="9405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M02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21331" y="1143000"/>
            <a:ext cx="940526" cy="731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21331" y="1234440"/>
            <a:ext cx="9405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61857" y="1143000"/>
            <a:ext cx="940526" cy="73152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1857" y="1234440"/>
            <a:ext cx="9405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M04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002383" y="1143000"/>
            <a:ext cx="940526" cy="731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02383" y="1234440"/>
            <a:ext cx="9405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M05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942909" y="1143000"/>
            <a:ext cx="940526" cy="73152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2909" y="1234440"/>
            <a:ext cx="9405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M06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7883434" y="1143000"/>
            <a:ext cx="940526" cy="73152"/>
          </a:xfrm>
          <a:prstGeom prst="rect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83434" y="1234440"/>
            <a:ext cx="9405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0040" y="1673352"/>
            <a:ext cx="1920240" cy="530352"/>
          </a:xfrm>
          <a:prstGeom prst="rect">
            <a:avLst/>
          </a:prstGeom>
          <a:solidFill>
            <a:srgbClr val="0D1321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1673352"/>
            <a:ext cx="45720" cy="5303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1673352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95528" y="1673352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Stage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240280" y="1673352"/>
            <a:ext cx="940526" cy="530352"/>
          </a:xfrm>
          <a:prstGeom prst="rect">
            <a:avLst/>
          </a:prstGeom>
          <a:solidFill>
            <a:srgbClr val="0F1F06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481943" y="1847088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0F1F06"/>
          </a:solidFill>
          <a:ln w="8890">
            <a:solidFill>
              <a:srgbClr val="A8E0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40280" y="1673352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180806" y="1673352"/>
            <a:ext cx="940526" cy="530352"/>
          </a:xfrm>
          <a:prstGeom prst="rect">
            <a:avLst/>
          </a:prstGeom>
          <a:solidFill>
            <a:srgbClr val="060F1A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22469" y="1847088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060F1A"/>
          </a:solidFill>
          <a:ln w="889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80806" y="1673352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121331" y="1673352"/>
            <a:ext cx="940526" cy="530352"/>
          </a:xfrm>
          <a:prstGeom prst="rect">
            <a:avLst/>
          </a:prstGeom>
          <a:solidFill>
            <a:srgbClr val="060F1A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362994" y="1847088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060F1A"/>
          </a:solidFill>
          <a:ln w="889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21331" y="1673352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61857" y="1673352"/>
            <a:ext cx="940526" cy="530352"/>
          </a:xfrm>
          <a:prstGeom prst="rect">
            <a:avLst/>
          </a:prstGeom>
          <a:solidFill>
            <a:srgbClr val="060F1A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0" y="1847088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060F1A"/>
          </a:solidFill>
          <a:ln w="8890">
            <a:solidFill>
              <a:srgbClr val="38BDF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61857" y="1673352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002383" y="1673352"/>
            <a:ext cx="940526" cy="530352"/>
          </a:xfrm>
          <a:prstGeom prst="rect">
            <a:avLst/>
          </a:prstGeom>
          <a:solidFill>
            <a:srgbClr val="060A12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02383" y="1673352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942909" y="1673352"/>
            <a:ext cx="940526" cy="530352"/>
          </a:xfrm>
          <a:prstGeom prst="rect">
            <a:avLst/>
          </a:prstGeom>
          <a:solidFill>
            <a:srgbClr val="060A12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42909" y="1673352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883434" y="1673352"/>
            <a:ext cx="940526" cy="530352"/>
          </a:xfrm>
          <a:prstGeom prst="rect">
            <a:avLst/>
          </a:prstGeom>
          <a:solidFill>
            <a:srgbClr val="0F1F06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25097" y="1847088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0F1F06"/>
          </a:solidFill>
          <a:ln w="8890">
            <a:solidFill>
              <a:srgbClr val="A8E06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83434" y="1673352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20040" y="2203704"/>
            <a:ext cx="1920240" cy="530352"/>
          </a:xfrm>
          <a:prstGeom prst="rect">
            <a:avLst/>
          </a:prstGeom>
          <a:solidFill>
            <a:srgbClr val="111C2E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" y="2203704"/>
            <a:ext cx="45720" cy="53035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1480" y="2203704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🌱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95528" y="2203704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240280" y="2203704"/>
            <a:ext cx="940526" cy="530352"/>
          </a:xfrm>
          <a:prstGeom prst="rect">
            <a:avLst/>
          </a:prstGeom>
          <a:solidFill>
            <a:srgbClr val="111C2E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481943" y="2377440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111C2E"/>
          </a:solidFill>
          <a:ln w="8890">
            <a:solidFill>
              <a:srgbClr val="6474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240280" y="2203704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180806" y="2203704"/>
            <a:ext cx="940526" cy="530352"/>
          </a:xfrm>
          <a:prstGeom prst="rect">
            <a:avLst/>
          </a:prstGeom>
          <a:solidFill>
            <a:srgbClr val="0F1F06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422469" y="2377440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0F1F06"/>
          </a:solidFill>
          <a:ln w="8890">
            <a:solidFill>
              <a:srgbClr val="A8E06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80806" y="2203704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4121331" y="2203704"/>
            <a:ext cx="940526" cy="530352"/>
          </a:xfrm>
          <a:prstGeom prst="rect">
            <a:avLst/>
          </a:prstGeom>
          <a:solidFill>
            <a:srgbClr val="060F1A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362994" y="2377440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060F1A"/>
          </a:solidFill>
          <a:ln w="8890">
            <a:solidFill>
              <a:srgbClr val="38BDF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121331" y="2203704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061857" y="2203704"/>
            <a:ext cx="940526" cy="530352"/>
          </a:xfrm>
          <a:prstGeom prst="rect">
            <a:avLst/>
          </a:prstGeom>
          <a:solidFill>
            <a:srgbClr val="060F1A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303520" y="2377440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060F1A"/>
          </a:solidFill>
          <a:ln w="8890">
            <a:solidFill>
              <a:srgbClr val="38BDF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061857" y="2203704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6002383" y="2203704"/>
            <a:ext cx="940526" cy="530352"/>
          </a:xfrm>
          <a:prstGeom prst="rect">
            <a:avLst/>
          </a:prstGeom>
          <a:solidFill>
            <a:srgbClr val="060A12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002383" y="2203704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942909" y="2203704"/>
            <a:ext cx="940526" cy="530352"/>
          </a:xfrm>
          <a:prstGeom prst="rect">
            <a:avLst/>
          </a:prstGeom>
          <a:solidFill>
            <a:srgbClr val="060A12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942909" y="2203704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7883434" y="2203704"/>
            <a:ext cx="940526" cy="530352"/>
          </a:xfrm>
          <a:prstGeom prst="rect">
            <a:avLst/>
          </a:prstGeom>
          <a:solidFill>
            <a:srgbClr val="0F1F06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125097" y="2377440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0F1F06"/>
          </a:solidFill>
          <a:ln w="8890">
            <a:solidFill>
              <a:srgbClr val="A8E06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83434" y="2203704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320040" y="2734056"/>
            <a:ext cx="1920240" cy="530352"/>
          </a:xfrm>
          <a:prstGeom prst="rect">
            <a:avLst/>
          </a:prstGeom>
          <a:solidFill>
            <a:srgbClr val="0D1321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20040" y="2734056"/>
            <a:ext cx="45720" cy="53035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11480" y="2734056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795528" y="2734056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/ MVP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240280" y="2734056"/>
            <a:ext cx="940526" cy="530352"/>
          </a:xfrm>
          <a:prstGeom prst="rect">
            <a:avLst/>
          </a:prstGeom>
          <a:solidFill>
            <a:srgbClr val="060A12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2240280" y="2734056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180806" y="2734056"/>
            <a:ext cx="940526" cy="530352"/>
          </a:xfrm>
          <a:prstGeom prst="rect">
            <a:avLst/>
          </a:prstGeom>
          <a:solidFill>
            <a:srgbClr val="111C2E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3422469" y="2907792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111C2E"/>
          </a:solidFill>
          <a:ln w="8890">
            <a:solidFill>
              <a:srgbClr val="818CF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180806" y="2734056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4121331" y="2734056"/>
            <a:ext cx="940526" cy="530352"/>
          </a:xfrm>
          <a:prstGeom prst="rect">
            <a:avLst/>
          </a:prstGeom>
          <a:solidFill>
            <a:srgbClr val="0F1F06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362994" y="2907792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0F1F06"/>
          </a:solidFill>
          <a:ln w="8890">
            <a:solidFill>
              <a:srgbClr val="A8E06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121331" y="2734056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5061857" y="2734056"/>
            <a:ext cx="940526" cy="530352"/>
          </a:xfrm>
          <a:prstGeom prst="rect">
            <a:avLst/>
          </a:prstGeom>
          <a:solidFill>
            <a:srgbClr val="0F1F06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5303520" y="2907792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0F1F06"/>
          </a:solidFill>
          <a:ln w="8890">
            <a:solidFill>
              <a:srgbClr val="A8E06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061857" y="2734056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6002383" y="2734056"/>
            <a:ext cx="940526" cy="530352"/>
          </a:xfrm>
          <a:prstGeom prst="rect">
            <a:avLst/>
          </a:prstGeom>
          <a:solidFill>
            <a:srgbClr val="060F1A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244046" y="2907792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060F1A"/>
          </a:solidFill>
          <a:ln w="8890">
            <a:solidFill>
              <a:srgbClr val="38BDF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002383" y="2734056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6942909" y="2734056"/>
            <a:ext cx="940526" cy="530352"/>
          </a:xfrm>
          <a:prstGeom prst="rect">
            <a:avLst/>
          </a:prstGeom>
          <a:solidFill>
            <a:srgbClr val="060A12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942909" y="2734056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7883434" y="2734056"/>
            <a:ext cx="940526" cy="530352"/>
          </a:xfrm>
          <a:prstGeom prst="rect">
            <a:avLst/>
          </a:prstGeom>
          <a:solidFill>
            <a:srgbClr val="0F1F06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125097" y="2907792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0F1F06"/>
          </a:solidFill>
          <a:ln w="8890">
            <a:solidFill>
              <a:srgbClr val="A8E063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883434" y="2734056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320040" y="3264408"/>
            <a:ext cx="1920240" cy="530352"/>
          </a:xfrm>
          <a:prstGeom prst="rect">
            <a:avLst/>
          </a:prstGeom>
          <a:solidFill>
            <a:srgbClr val="111C2E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20040" y="3264408"/>
            <a:ext cx="45720" cy="53035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11480" y="3264408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795528" y="3264408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Growth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2240280" y="3264408"/>
            <a:ext cx="940526" cy="530352"/>
          </a:xfrm>
          <a:prstGeom prst="rect">
            <a:avLst/>
          </a:prstGeom>
          <a:solidFill>
            <a:srgbClr val="060A12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240280" y="3264408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96" name="Shape 94"/>
          <p:cNvSpPr/>
          <p:nvPr/>
        </p:nvSpPr>
        <p:spPr>
          <a:xfrm>
            <a:off x="3180806" y="3264408"/>
            <a:ext cx="940526" cy="530352"/>
          </a:xfrm>
          <a:prstGeom prst="rect">
            <a:avLst/>
          </a:prstGeom>
          <a:solidFill>
            <a:srgbClr val="111C2E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3422469" y="3438144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111C2E"/>
          </a:solidFill>
          <a:ln w="8890">
            <a:solidFill>
              <a:srgbClr val="64748B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180806" y="3264408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</a:t>
            </a:r>
            <a:endParaRPr lang="en-US" sz="800" dirty="0"/>
          </a:p>
        </p:txBody>
      </p:sp>
      <p:sp>
        <p:nvSpPr>
          <p:cNvPr id="99" name="Shape 97"/>
          <p:cNvSpPr/>
          <p:nvPr/>
        </p:nvSpPr>
        <p:spPr>
          <a:xfrm>
            <a:off x="4121331" y="3264408"/>
            <a:ext cx="940526" cy="530352"/>
          </a:xfrm>
          <a:prstGeom prst="rect">
            <a:avLst/>
          </a:prstGeom>
          <a:solidFill>
            <a:srgbClr val="111C2E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4362994" y="3438144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111C2E"/>
          </a:solidFill>
          <a:ln w="8890">
            <a:solidFill>
              <a:srgbClr val="FB923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121331" y="3264408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</a:t>
            </a:r>
            <a:endParaRPr lang="en-US" sz="800" dirty="0"/>
          </a:p>
        </p:txBody>
      </p:sp>
      <p:sp>
        <p:nvSpPr>
          <p:cNvPr id="102" name="Shape 100"/>
          <p:cNvSpPr/>
          <p:nvPr/>
        </p:nvSpPr>
        <p:spPr>
          <a:xfrm>
            <a:off x="5061857" y="3264408"/>
            <a:ext cx="940526" cy="530352"/>
          </a:xfrm>
          <a:prstGeom prst="rect">
            <a:avLst/>
          </a:prstGeom>
          <a:solidFill>
            <a:srgbClr val="060A12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061857" y="3264408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6002383" y="3264408"/>
            <a:ext cx="940526" cy="530352"/>
          </a:xfrm>
          <a:prstGeom prst="rect">
            <a:avLst/>
          </a:prstGeom>
          <a:solidFill>
            <a:srgbClr val="0F1F06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6244046" y="3438144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0F1F06"/>
          </a:solidFill>
          <a:ln w="8890">
            <a:solidFill>
              <a:srgbClr val="A8E063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002383" y="3264408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6942909" y="3264408"/>
            <a:ext cx="940526" cy="530352"/>
          </a:xfrm>
          <a:prstGeom prst="rect">
            <a:avLst/>
          </a:prstGeom>
          <a:solidFill>
            <a:srgbClr val="060F1A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184571" y="3438144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060F1A"/>
          </a:solidFill>
          <a:ln w="8890">
            <a:solidFill>
              <a:srgbClr val="38BDF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942909" y="3264408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110" name="Shape 108"/>
          <p:cNvSpPr/>
          <p:nvPr/>
        </p:nvSpPr>
        <p:spPr>
          <a:xfrm>
            <a:off x="7883434" y="3264408"/>
            <a:ext cx="940526" cy="530352"/>
          </a:xfrm>
          <a:prstGeom prst="rect">
            <a:avLst/>
          </a:prstGeom>
          <a:solidFill>
            <a:srgbClr val="0F1F06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8125097" y="3438144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0F1F06"/>
          </a:solidFill>
          <a:ln w="8890">
            <a:solidFill>
              <a:srgbClr val="A8E063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883434" y="3264408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320040" y="3794760"/>
            <a:ext cx="1920240" cy="530352"/>
          </a:xfrm>
          <a:prstGeom prst="rect">
            <a:avLst/>
          </a:prstGeom>
          <a:solidFill>
            <a:srgbClr val="0D1321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320040" y="3794760"/>
            <a:ext cx="45720" cy="530352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411480" y="3794760"/>
            <a:ext cx="365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🏆</a:t>
            </a:r>
            <a:endParaRPr lang="en-US" sz="1400" dirty="0"/>
          </a:p>
        </p:txBody>
      </p:sp>
      <p:sp>
        <p:nvSpPr>
          <p:cNvPr id="116" name="Text 114"/>
          <p:cNvSpPr/>
          <p:nvPr/>
        </p:nvSpPr>
        <p:spPr>
          <a:xfrm>
            <a:off x="795528" y="3794760"/>
            <a:ext cx="138988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/ Pre-Exit</a:t>
            </a:r>
            <a:endParaRPr lang="en-US" sz="950" dirty="0"/>
          </a:p>
        </p:txBody>
      </p:sp>
      <p:sp>
        <p:nvSpPr>
          <p:cNvPr id="117" name="Shape 115"/>
          <p:cNvSpPr/>
          <p:nvPr/>
        </p:nvSpPr>
        <p:spPr>
          <a:xfrm>
            <a:off x="2240280" y="3794760"/>
            <a:ext cx="940526" cy="530352"/>
          </a:xfrm>
          <a:prstGeom prst="rect">
            <a:avLst/>
          </a:prstGeom>
          <a:solidFill>
            <a:srgbClr val="060A12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240280" y="3794760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3180806" y="3794760"/>
            <a:ext cx="940526" cy="530352"/>
          </a:xfrm>
          <a:prstGeom prst="rect">
            <a:avLst/>
          </a:prstGeom>
          <a:solidFill>
            <a:srgbClr val="111C2E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422469" y="3968496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111C2E"/>
          </a:solidFill>
          <a:ln w="8890">
            <a:solidFill>
              <a:srgbClr val="E879F9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180806" y="3794760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</a:t>
            </a:r>
            <a:endParaRPr lang="en-US" sz="800" dirty="0"/>
          </a:p>
        </p:txBody>
      </p:sp>
      <p:sp>
        <p:nvSpPr>
          <p:cNvPr id="122" name="Shape 120"/>
          <p:cNvSpPr/>
          <p:nvPr/>
        </p:nvSpPr>
        <p:spPr>
          <a:xfrm>
            <a:off x="4121331" y="3794760"/>
            <a:ext cx="940526" cy="530352"/>
          </a:xfrm>
          <a:prstGeom prst="rect">
            <a:avLst/>
          </a:prstGeom>
          <a:solidFill>
            <a:srgbClr val="060A12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121331" y="3794760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24" name="Shape 122"/>
          <p:cNvSpPr/>
          <p:nvPr/>
        </p:nvSpPr>
        <p:spPr>
          <a:xfrm>
            <a:off x="5061857" y="3794760"/>
            <a:ext cx="940526" cy="530352"/>
          </a:xfrm>
          <a:prstGeom prst="rect">
            <a:avLst/>
          </a:prstGeom>
          <a:solidFill>
            <a:srgbClr val="060A12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5061857" y="3794760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126" name="Shape 124"/>
          <p:cNvSpPr/>
          <p:nvPr/>
        </p:nvSpPr>
        <p:spPr>
          <a:xfrm>
            <a:off x="6002383" y="3794760"/>
            <a:ext cx="940526" cy="530352"/>
          </a:xfrm>
          <a:prstGeom prst="rect">
            <a:avLst/>
          </a:prstGeom>
          <a:solidFill>
            <a:srgbClr val="111C2E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6244046" y="3968496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111C2E"/>
          </a:solidFill>
          <a:ln w="8890">
            <a:solidFill>
              <a:srgbClr val="64748B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6002383" y="3794760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</a:t>
            </a:r>
            <a:endParaRPr lang="en-US" sz="800" dirty="0"/>
          </a:p>
        </p:txBody>
      </p:sp>
      <p:sp>
        <p:nvSpPr>
          <p:cNvPr id="129" name="Shape 127"/>
          <p:cNvSpPr/>
          <p:nvPr/>
        </p:nvSpPr>
        <p:spPr>
          <a:xfrm>
            <a:off x="6942909" y="3794760"/>
            <a:ext cx="940526" cy="530352"/>
          </a:xfrm>
          <a:prstGeom prst="rect">
            <a:avLst/>
          </a:prstGeom>
          <a:solidFill>
            <a:srgbClr val="0F1F06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7184571" y="3968496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0F1F06"/>
          </a:solidFill>
          <a:ln w="8890">
            <a:solidFill>
              <a:srgbClr val="A8E063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6942909" y="3794760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7883434" y="3794760"/>
            <a:ext cx="940526" cy="530352"/>
          </a:xfrm>
          <a:prstGeom prst="rect">
            <a:avLst/>
          </a:prstGeom>
          <a:solidFill>
            <a:srgbClr val="0F1F06"/>
          </a:solidFill>
          <a:ln w="3810">
            <a:solidFill>
              <a:srgbClr val="1E2D42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8125097" y="3968496"/>
            <a:ext cx="457200" cy="182880"/>
          </a:xfrm>
          <a:prstGeom prst="roundRect">
            <a:avLst>
              <a:gd name="adj" fmla="val 30000"/>
            </a:avLst>
          </a:prstGeom>
          <a:solidFill>
            <a:srgbClr val="0F1F06"/>
          </a:solidFill>
          <a:ln w="8890">
            <a:solidFill>
              <a:srgbClr val="A8E063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7883434" y="3794760"/>
            <a:ext cx="94052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324612" y="4832604"/>
            <a:ext cx="100584" cy="100584"/>
          </a:xfrm>
          <a:prstGeom prst="ellipse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457200" y="4754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800" dirty="0"/>
          </a:p>
        </p:txBody>
      </p:sp>
      <p:sp>
        <p:nvSpPr>
          <p:cNvPr id="137" name="Shape 135"/>
          <p:cNvSpPr/>
          <p:nvPr/>
        </p:nvSpPr>
        <p:spPr>
          <a:xfrm>
            <a:off x="2016252" y="4832604"/>
            <a:ext cx="100584" cy="100584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148840" y="4754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3707892" y="4832604"/>
            <a:ext cx="100584" cy="10058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840480" y="4754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/ OPT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5399532" y="4832604"/>
            <a:ext cx="100584" cy="100584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5532120" y="4754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/ REFINE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7091172" y="4832604"/>
            <a:ext cx="100584" cy="100584"/>
          </a:xfrm>
          <a:prstGeom prst="ellipse">
            <a:avLst/>
          </a:prstGeom>
          <a:solidFill>
            <a:srgbClr val="1E2D42"/>
          </a:solidFill>
          <a:ln w="12700">
            <a:solidFill>
              <a:srgbClr val="1E2D42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223760" y="4754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= Locked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DEEP DIVE — FOUNDATION MODULES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First. Then Structure.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33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 + M02 form the intellectual and legal foundation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3749040"/>
          </a:xfrm>
          <a:prstGeom prst="roundRect">
            <a:avLst>
              <a:gd name="adj" fmla="val 1463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0292" cy="37490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170432"/>
            <a:ext cx="548640" cy="256032"/>
          </a:xfrm>
          <a:prstGeom prst="rect">
            <a:avLst/>
          </a:prstGeom>
          <a:solidFill>
            <a:srgbClr val="38BD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" y="1161288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1612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51560" y="1161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&amp; Market Validation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8912" y="14813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for: Idea Stage, Pre-Seed  |  Optional audit: Seed+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38912" y="1856232"/>
            <a:ext cx="36576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1874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Stress-Test Engine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834640" y="1883664"/>
            <a:ext cx="274320" cy="173736"/>
          </a:xfrm>
          <a:prstGeom prst="roundRect">
            <a:avLst>
              <a:gd name="adj" fmla="val 21053"/>
            </a:avLst>
          </a:prstGeom>
          <a:solidFill>
            <a:srgbClr val="0F1F06"/>
          </a:solidFill>
          <a:ln w="6350">
            <a:solidFill>
              <a:srgbClr val="A8E0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834640" y="1883664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66928" y="20939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Devil's advocate mode — surfaces the 5 strongest objections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38912" y="2395728"/>
            <a:ext cx="36576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241401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 (TAM/SAM)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34640" y="2423160"/>
            <a:ext cx="274320" cy="173736"/>
          </a:xfrm>
          <a:prstGeom prst="roundRect">
            <a:avLst>
              <a:gd name="adj" fmla="val 21053"/>
            </a:avLst>
          </a:prstGeom>
          <a:solidFill>
            <a:srgbClr val="0F1F06"/>
          </a:solidFill>
          <a:ln w="6350">
            <a:solidFill>
              <a:srgbClr val="A8E0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0" y="2423160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566928" y="26334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Statista + World Bank data with AI narrative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8912" y="2935224"/>
            <a:ext cx="36576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2953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Intelligence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" y="3172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Auto-mapped competitor landscape + pricing benchmarks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38912" y="3474720"/>
            <a:ext cx="36576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4930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ICP &amp; Persona Builder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834640" y="3502152"/>
            <a:ext cx="274320" cy="173736"/>
          </a:xfrm>
          <a:prstGeom prst="roundRect">
            <a:avLst>
              <a:gd name="adj" fmla="val 21053"/>
            </a:avLst>
          </a:prstGeom>
          <a:solidFill>
            <a:srgbClr val="0F1F06"/>
          </a:solidFill>
          <a:ln w="6350">
            <a:solidFill>
              <a:srgbClr val="A8E0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0" y="3502152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66928" y="37124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ideal customer profiles with WTP analysis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38912" y="4014216"/>
            <a:ext cx="36576" cy="402336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0325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Scorecard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834640" y="4041648"/>
            <a:ext cx="274320" cy="173736"/>
          </a:xfrm>
          <a:prstGeom prst="roundRect">
            <a:avLst>
              <a:gd name="adj" fmla="val 21053"/>
            </a:avLst>
          </a:prstGeom>
          <a:solidFill>
            <a:srgbClr val="0F1F06"/>
          </a:solidFill>
          <a:ln w="6350">
            <a:solidFill>
              <a:srgbClr val="A8E06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834640" y="4041648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66928" y="4251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across 8 dimensions — gate to M02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1097280"/>
            <a:ext cx="4114800" cy="3749040"/>
          </a:xfrm>
          <a:prstGeom prst="roundRect">
            <a:avLst>
              <a:gd name="adj" fmla="val 1463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1097280"/>
            <a:ext cx="50292" cy="37490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18888" y="1161288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18888" y="11612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M02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40680" y="1161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Structure Engine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818888" y="14813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for: All stages  |  Context varies by stage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18888" y="1856232"/>
            <a:ext cx="36576" cy="40233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46904" y="18745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 Matrix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946904" y="20939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MENA &amp; global jurisdictions — cost, timeline, rules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18888" y="2395728"/>
            <a:ext cx="36576" cy="40233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46904" y="24140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Recommendation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7406640" y="2423160"/>
            <a:ext cx="274320" cy="173736"/>
          </a:xfrm>
          <a:prstGeom prst="roundRect">
            <a:avLst>
              <a:gd name="adj" fmla="val 21053"/>
            </a:avLst>
          </a:prstGeom>
          <a:solidFill>
            <a:srgbClr val="0F1F06"/>
          </a:solidFill>
          <a:ln w="6350">
            <a:solidFill>
              <a:srgbClr val="A8E06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06640" y="2423160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946904" y="26334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entity type + ranked rationale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18888" y="2935224"/>
            <a:ext cx="36576" cy="40233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46904" y="29535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 vs OpCo Advisor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406640" y="2962656"/>
            <a:ext cx="274320" cy="173736"/>
          </a:xfrm>
          <a:prstGeom prst="roundRect">
            <a:avLst>
              <a:gd name="adj" fmla="val 21053"/>
            </a:avLst>
          </a:prstGeom>
          <a:solidFill>
            <a:srgbClr val="0F1F06"/>
          </a:solidFill>
          <a:ln w="6350">
            <a:solidFill>
              <a:srgbClr val="A8E06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406640" y="2962656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946904" y="3172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for holdco evaluation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818888" y="3474720"/>
            <a:ext cx="36576" cy="40233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46904" y="349300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Generation Suite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406640" y="3502152"/>
            <a:ext cx="274320" cy="173736"/>
          </a:xfrm>
          <a:prstGeom prst="roundRect">
            <a:avLst>
              <a:gd name="adj" fmla="val 21053"/>
            </a:avLst>
          </a:prstGeom>
          <a:solidFill>
            <a:srgbClr val="0F1F06"/>
          </a:solidFill>
          <a:ln w="6350">
            <a:solidFill>
              <a:srgbClr val="A8E06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06640" y="3502152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00" dirty="0"/>
          </a:p>
        </p:txBody>
      </p:sp>
      <p:sp>
        <p:nvSpPr>
          <p:cNvPr id="59" name="Text 57"/>
          <p:cNvSpPr/>
          <p:nvPr/>
        </p:nvSpPr>
        <p:spPr>
          <a:xfrm>
            <a:off x="4946904" y="37124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SHA, MOA/AOA, Vesting, NDA, Term Sheets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818888" y="4014216"/>
            <a:ext cx="36576" cy="402336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46904" y="40325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Partner Marketplace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946904" y="4251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 law firms with in-platform briefing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DEEP DIVE — MARKET &amp; BUILD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Market. Build the Product.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33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+ M04 bridge strategy to launch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3749040"/>
          </a:xfrm>
          <a:prstGeom prst="roundRect">
            <a:avLst>
              <a:gd name="adj" fmla="val 1463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0292" cy="37490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161288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1612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51560" y="1161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GTM, Brand &amp; Marketing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" y="14813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for: Pre-Seed, Seed, Growth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1856232"/>
            <a:ext cx="36576" cy="40233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187452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Strategy Builder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749040" y="1883664"/>
            <a:ext cx="274320" cy="173736"/>
          </a:xfrm>
          <a:prstGeom prst="roundRect">
            <a:avLst>
              <a:gd name="adj" fmla="val 21053"/>
            </a:avLst>
          </a:prstGeom>
          <a:solidFill>
            <a:srgbClr val="0F1F06"/>
          </a:solidFill>
          <a:ln w="6350">
            <a:solidFill>
              <a:srgbClr val="A8E0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883664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57784" y="20939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Channel-mix recommendation matched to ACV &amp; model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" y="2395728"/>
            <a:ext cx="36576" cy="40233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" y="24140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Strategy Module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7784" y="26334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simulation across 4 pricing frameworks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9768" y="2935224"/>
            <a:ext cx="36576" cy="40233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" y="29535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 Wizard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49040" y="2962656"/>
            <a:ext cx="274320" cy="173736"/>
          </a:xfrm>
          <a:prstGeom prst="roundRect">
            <a:avLst>
              <a:gd name="adj" fmla="val 21053"/>
            </a:avLst>
          </a:prstGeom>
          <a:solidFill>
            <a:srgbClr val="0F1F06"/>
          </a:solidFill>
          <a:ln w="6350">
            <a:solidFill>
              <a:srgbClr val="A8E06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49040" y="2962656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57784" y="3172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Naming, positioning, tone-of-voice &amp; brand brief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29768" y="3474720"/>
            <a:ext cx="36576" cy="40233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7784" y="3493008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Engine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49040" y="3502152"/>
            <a:ext cx="274320" cy="173736"/>
          </a:xfrm>
          <a:prstGeom prst="roundRect">
            <a:avLst>
              <a:gd name="adj" fmla="val 21053"/>
            </a:avLst>
          </a:prstGeom>
          <a:solidFill>
            <a:srgbClr val="0F1F06"/>
          </a:solidFill>
          <a:ln w="6350">
            <a:solidFill>
              <a:srgbClr val="A8E06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749040" y="3502152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557784" y="37124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calendar + copy in English &amp; Arabic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29768" y="4014216"/>
            <a:ext cx="36576" cy="40233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7784" y="40325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Funnel Sim.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7784" y="4251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conversion rates, reverse-engineer growth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1097280"/>
            <a:ext cx="4114800" cy="3749040"/>
          </a:xfrm>
          <a:prstGeom prst="roundRect">
            <a:avLst>
              <a:gd name="adj" fmla="val 1463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663440" y="1097280"/>
            <a:ext cx="50292" cy="374904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818888" y="1161288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18888" y="11612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M04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440680" y="1161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&amp; Soft Launch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18888" y="14813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for: Pre-Seed, Seed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818888" y="1856232"/>
            <a:ext cx="36576" cy="40233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46904" y="18745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Scoping Canvas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946904" y="20939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MoSCoW + RICE prioritisation with sprint planner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818888" y="2395728"/>
            <a:ext cx="36576" cy="40233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46904" y="241401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Recommender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138160" y="2423160"/>
            <a:ext cx="274320" cy="173736"/>
          </a:xfrm>
          <a:prstGeom prst="roundRect">
            <a:avLst>
              <a:gd name="adj" fmla="val 21053"/>
            </a:avLst>
          </a:prstGeom>
          <a:solidFill>
            <a:srgbClr val="0F1F06"/>
          </a:solidFill>
          <a:ln w="6350">
            <a:solidFill>
              <a:srgbClr val="A8E06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38160" y="2423160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4946904" y="26334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+ infra cost projection by product type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18888" y="2935224"/>
            <a:ext cx="36576" cy="40233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46904" y="2953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Partner Marketplace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946904" y="3172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Vetted agencies, milestone contracts + escrow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18888" y="3474720"/>
            <a:ext cx="36576" cy="40233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46904" y="34930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Launch Playbook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946904" y="37124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cohort, waitlist, NPS &amp; iteration framework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18888" y="4014216"/>
            <a:ext cx="36576" cy="40233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46904" y="40325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Analytics Setup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946904" y="4251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1-click PostHog / Mixpanel / Amplitude guides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DEEP DIVE — SCALE &amp; EXIT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Efficiently. Exit Profitably.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33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M05 + M06 build the sustainable business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3749040"/>
          </a:xfrm>
          <a:prstGeom prst="roundRect">
            <a:avLst>
              <a:gd name="adj" fmla="val 1463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0292" cy="37490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161288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1612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M05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51560" y="1161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&amp; ERP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" y="14813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for: Seed, Growth, Scale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29768" y="1856232"/>
            <a:ext cx="36576" cy="4023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18745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Automation Builder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7784" y="20939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flows + Make.com / Zapier integration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" y="2395728"/>
            <a:ext cx="36576" cy="4023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" y="241401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Model Generator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49040" y="2423160"/>
            <a:ext cx="274320" cy="173736"/>
          </a:xfrm>
          <a:prstGeom prst="roundRect">
            <a:avLst>
              <a:gd name="adj" fmla="val 21053"/>
            </a:avLst>
          </a:prstGeom>
          <a:solidFill>
            <a:srgbClr val="0F1F06"/>
          </a:solidFill>
          <a:ln w="6350">
            <a:solidFill>
              <a:srgbClr val="A8E0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2423160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57784" y="26334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P&amp;L, cash flow + scenario modelling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9768" y="2935224"/>
            <a:ext cx="36576" cy="4023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" y="295351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Readiness Score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7784" y="3172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maturity vs Zoho/Odoo requirements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9768" y="3474720"/>
            <a:ext cx="36576" cy="4023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" y="34930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/ Odoo Config Wizard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57784" y="37124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Industry-specific templates — 60% faster setup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9768" y="4014216"/>
            <a:ext cx="36576" cy="402336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7784" y="403250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 &amp; Playbook Generator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49040" y="4041648"/>
            <a:ext cx="274320" cy="173736"/>
          </a:xfrm>
          <a:prstGeom prst="roundRect">
            <a:avLst>
              <a:gd name="adj" fmla="val 21053"/>
            </a:avLst>
          </a:prstGeom>
          <a:solidFill>
            <a:srgbClr val="0F1F06"/>
          </a:solidFill>
          <a:ln w="6350">
            <a:solidFill>
              <a:srgbClr val="A8E06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49040" y="4041648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557784" y="4251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SOPs for Sales, CS, Ops, Finance functions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1097280"/>
            <a:ext cx="4114800" cy="3749040"/>
          </a:xfrm>
          <a:prstGeom prst="roundRect">
            <a:avLst>
              <a:gd name="adj" fmla="val 1463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1097280"/>
            <a:ext cx="50292" cy="3749040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18888" y="1161288"/>
            <a:ext cx="548640" cy="256032"/>
          </a:xfrm>
          <a:prstGeom prst="roundRect">
            <a:avLst>
              <a:gd name="adj" fmla="val 14286"/>
            </a:avLst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11612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40680" y="11612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Exit Planning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18888" y="14813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for: Growth, Scale, Pre-Exit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18888" y="1856232"/>
            <a:ext cx="36576" cy="40233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46904" y="18745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Readiness Toolkit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946904" y="20939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deck, data room, KPI dashboard, due dil.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818888" y="2395728"/>
            <a:ext cx="36576" cy="40233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46904" y="241401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Strategy Modeler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138160" y="2423160"/>
            <a:ext cx="274320" cy="173736"/>
          </a:xfrm>
          <a:prstGeom prst="roundRect">
            <a:avLst>
              <a:gd name="adj" fmla="val 21053"/>
            </a:avLst>
          </a:prstGeom>
          <a:solidFill>
            <a:srgbClr val="0F1F06"/>
          </a:solidFill>
          <a:ln w="6350">
            <a:solidFill>
              <a:srgbClr val="A8E06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38160" y="2423160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4946904" y="26334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Valuation multiples, M&amp;A vs IPO, acquirer map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18888" y="2935224"/>
            <a:ext cx="36576" cy="40233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46904" y="295351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Narratives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8138160" y="2962656"/>
            <a:ext cx="274320" cy="173736"/>
          </a:xfrm>
          <a:prstGeom prst="roundRect">
            <a:avLst>
              <a:gd name="adj" fmla="val 21053"/>
            </a:avLst>
          </a:prstGeom>
          <a:solidFill>
            <a:srgbClr val="0F1F06"/>
          </a:solidFill>
          <a:ln w="6350">
            <a:solidFill>
              <a:srgbClr val="A8E06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38160" y="2962656"/>
            <a:ext cx="274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4946904" y="317296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converts raw model into investor language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818888" y="3474720"/>
            <a:ext cx="36576" cy="40233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46904" y="34930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Fundraising CRM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946904" y="371246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pipeline from contact to term sheet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18888" y="4014216"/>
            <a:ext cx="36576" cy="402336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46904" y="403250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&amp; Investor Network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946904" y="42519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directory matched by stage &amp; geography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Modern, Scalable Stack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33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AI-first, multi-tenant founder operations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50292" cy="8686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2161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75488" y="152704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 · TypeScript · Tailwind CSS · Framer Motion · Zustand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09160" y="1143000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43000"/>
            <a:ext cx="50292" cy="8686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0328" y="121615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910328" y="1527048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Fastify · tRPC · Prisma ORM · REST + WebSockets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130552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30552"/>
            <a:ext cx="50292" cy="868680"/>
          </a:xfrm>
          <a:prstGeom prst="rect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220370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75488" y="25146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(Anthropic) · LangChain Agents · Pinecone (Vector DB) · Vercel AI SDK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2130552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130552"/>
            <a:ext cx="50292" cy="8686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0328" y="220370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910328" y="25146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Redis · AWS S3 · Segment (event pipeline)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1181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118104"/>
            <a:ext cx="50292" cy="86868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1912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Billing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5488" y="350215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(auth + orgs) · Stripe (subscriptions + Connect) · Resend · Twilio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09160" y="3118104"/>
            <a:ext cx="4160520" cy="868680"/>
          </a:xfrm>
          <a:prstGeom prst="roundRect">
            <a:avLst>
              <a:gd name="adj" fmla="val 6316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3118104"/>
            <a:ext cx="50292" cy="868680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0328" y="319125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/ Integ.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910328" y="350215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API Suite · Odoo XML-RPC · DocuSign · Make.com · Zapier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4105656"/>
            <a:ext cx="8595360" cy="868680"/>
          </a:xfrm>
          <a:prstGeom prst="roundRect">
            <a:avLst>
              <a:gd name="adj" fmla="val 6316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4105656"/>
            <a:ext cx="50292" cy="868680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" y="41788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&amp; DevOps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" y="4489704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· Railway · GitHub Actions CI/CD · Sentry · PostHog · Metabase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10-Month Build Plan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33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 — from MVP foundation to full platform launch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7498080" cy="0"/>
          </a:xfrm>
          <a:prstGeom prst="line">
            <a:avLst/>
          </a:prstGeom>
          <a:noFill/>
          <a:ln w="19050">
            <a:solidFill>
              <a:srgbClr val="1E2D42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274320" y="1280160"/>
            <a:ext cx="1993392" cy="2743200"/>
          </a:xfrm>
          <a:prstGeom prst="rect">
            <a:avLst/>
          </a:prstGeom>
          <a:solidFill>
            <a:srgbClr val="0D1321"/>
          </a:solidFill>
          <a:ln w="1016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3913632"/>
            <a:ext cx="1993392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33856" y="1874520"/>
            <a:ext cx="228600" cy="22860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53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5910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65760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+ Gateway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9768" y="2560320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4963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questionnaire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9768" y="2944368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880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stage routing engine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9768" y="3328416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64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dashboard shell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9768" y="3712464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364845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profiles &amp; DB schema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50592" y="1280160"/>
            <a:ext cx="1993392" cy="2743200"/>
          </a:xfrm>
          <a:prstGeom prst="rect">
            <a:avLst/>
          </a:prstGeom>
          <a:solidFill>
            <a:srgbClr val="0D1321"/>
          </a:solidFill>
          <a:ln w="10160">
            <a:solidFill>
              <a:srgbClr val="818C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450592" y="3913632"/>
            <a:ext cx="1993392" cy="109728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310128" y="1874520"/>
            <a:ext cx="228600" cy="22860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42032" y="1353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42032" y="15910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3–4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542032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AI Modules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606040" y="2560320"/>
            <a:ext cx="91440" cy="9144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0" y="24963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M01 — Idea Validation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06040" y="2944368"/>
            <a:ext cx="91440" cy="9144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0" y="2880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M02 — Legal Engine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606040" y="3328416"/>
            <a:ext cx="91440" cy="9144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0" y="3264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generation suite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06040" y="3712464"/>
            <a:ext cx="91440" cy="91440"/>
          </a:xfrm>
          <a:prstGeom prst="ellipse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0" y="364845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v1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26864" y="1280160"/>
            <a:ext cx="1993392" cy="2743200"/>
          </a:xfrm>
          <a:prstGeom prst="rect">
            <a:avLst/>
          </a:prstGeom>
          <a:solidFill>
            <a:srgbClr val="0D1321"/>
          </a:solidFill>
          <a:ln w="10160">
            <a:solidFill>
              <a:srgbClr val="FB923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26864" y="3913632"/>
            <a:ext cx="1993392" cy="10972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486400" y="1874520"/>
            <a:ext cx="228600" cy="22860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1353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718304" y="15910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5–7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18304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+ Build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4782312" y="2560320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19472" y="24963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M03 — GTM &amp; Brand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82312" y="2944368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9472" y="2880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Content Engine (AR/EN)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782312" y="3328416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19472" y="3264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M04 — MVP tools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782312" y="3712464"/>
            <a:ext cx="91440" cy="91440"/>
          </a:xfrm>
          <a:prstGeom prst="ellipse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919472" y="364845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partner marketplace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803136" y="1280160"/>
            <a:ext cx="1993392" cy="2743200"/>
          </a:xfrm>
          <a:prstGeom prst="rect">
            <a:avLst/>
          </a:prstGeom>
          <a:solidFill>
            <a:srgbClr val="0D1321"/>
          </a:solidFill>
          <a:ln w="10160">
            <a:solidFill>
              <a:srgbClr val="A8E06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803136" y="3913632"/>
            <a:ext cx="1993392" cy="109728"/>
          </a:xfrm>
          <a:prstGeom prst="rect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662672" y="1874520"/>
            <a:ext cx="228600" cy="228600"/>
          </a:xfrm>
          <a:prstGeom prst="ellipse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94576" y="1353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894576" y="15910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8–10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894576" y="19659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+ Launch</a:t>
            </a:r>
            <a:endParaRPr lang="en-US" sz="1150" dirty="0"/>
          </a:p>
        </p:txBody>
      </p:sp>
      <p:sp>
        <p:nvSpPr>
          <p:cNvPr id="55" name="Shape 53"/>
          <p:cNvSpPr/>
          <p:nvPr/>
        </p:nvSpPr>
        <p:spPr>
          <a:xfrm>
            <a:off x="6958584" y="2560320"/>
            <a:ext cx="91440" cy="91440"/>
          </a:xfrm>
          <a:prstGeom prst="ellipse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95744" y="249631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M05 — Automation &amp; ERP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6958584" y="2944368"/>
            <a:ext cx="91440" cy="91440"/>
          </a:xfrm>
          <a:prstGeom prst="ellipse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095744" y="28803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/ Odoo wizards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958584" y="3328416"/>
            <a:ext cx="91440" cy="91440"/>
          </a:xfrm>
          <a:prstGeom prst="ellipse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95744" y="326440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M06 — Exit Planning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958584" y="3712464"/>
            <a:ext cx="91440" cy="91440"/>
          </a:xfrm>
          <a:prstGeom prst="ellipse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095744" y="3648456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+ public launch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65760" y="41605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viable at end of Phase 2 — Onboarding + Legal Engine alone can be sold as a standalone product at $99–$299/mo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Tiers. One Flywheel.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332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 expands with founder growth — revenue scales with the platform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697480" cy="3200400"/>
          </a:xfrm>
          <a:prstGeom prst="rect">
            <a:avLst/>
          </a:prstGeom>
          <a:solidFill>
            <a:srgbClr val="0D1321"/>
          </a:solidFill>
          <a:ln w="889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91640"/>
            <a:ext cx="2697480" cy="10972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562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$99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82980" y="2468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8072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&amp; Pre-Seed Founders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02920" y="3118104"/>
            <a:ext cx="2423160" cy="0"/>
          </a:xfrm>
          <a:prstGeom prst="line">
            <a:avLst/>
          </a:prstGeom>
          <a:noFill/>
          <a:ln w="6350">
            <a:solidFill>
              <a:srgbClr val="1E2D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" y="3291840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2369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&amp; market validation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6072" y="3621024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5661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structure engine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76072" y="3950208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389534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&amp; brand basics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76072" y="4279392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2245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(standard)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76072" y="4608576"/>
            <a:ext cx="91440" cy="91440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5537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generation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0" y="1691640"/>
            <a:ext cx="2697480" cy="3200400"/>
          </a:xfrm>
          <a:prstGeom prst="rect">
            <a:avLst/>
          </a:prstGeom>
          <a:solidFill>
            <a:srgbClr val="0D1321"/>
          </a:solidFill>
          <a:ln w="19050">
            <a:solidFill>
              <a:srgbClr val="A8E063"/>
            </a:solidFill>
            <a:prstDash val="solid"/>
          </a:ln>
          <a:effectLst>
            <a:outerShdw sx="100000" sy="100000" kx="0" ky="0" algn="bl" rotWithShape="0" blurRad="127000" dist="762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0" y="1691640"/>
            <a:ext cx="2697480" cy="109728"/>
          </a:xfrm>
          <a:prstGeom prst="rect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0480" y="1463040"/>
            <a:ext cx="1417320" cy="256032"/>
          </a:xfrm>
          <a:prstGeom prst="roundRect">
            <a:avLst>
              <a:gd name="adj" fmla="val 35714"/>
            </a:avLst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0" y="14630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337560" y="18562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33756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3977640" y="2468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37560" y="28072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Builders in Launch Phase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37560" y="3118104"/>
            <a:ext cx="2423160" cy="0"/>
          </a:xfrm>
          <a:prstGeom prst="line">
            <a:avLst/>
          </a:prstGeom>
          <a:noFill/>
          <a:ln w="6350">
            <a:solidFill>
              <a:srgbClr val="1E2D4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10712" y="3291840"/>
            <a:ext cx="91440" cy="91440"/>
          </a:xfrm>
          <a:prstGeom prst="ellipse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47872" y="32369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Starter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410712" y="3621024"/>
            <a:ext cx="91440" cy="91440"/>
          </a:xfrm>
          <a:prstGeom prst="ellipse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47872" y="35661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M04 — MVP &amp; Soft Launch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410712" y="3950208"/>
            <a:ext cx="91440" cy="91440"/>
          </a:xfrm>
          <a:prstGeom prst="ellipse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47872" y="389534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M05 — Automation &amp; ERP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410712" y="4279392"/>
            <a:ext cx="91440" cy="91440"/>
          </a:xfrm>
          <a:prstGeom prst="ellipse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47872" y="42245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M06 — Exit Planning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410712" y="4608576"/>
            <a:ext cx="91440" cy="91440"/>
          </a:xfrm>
          <a:prstGeom prst="ellipse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47872" y="45537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/ Odoo setup wizards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410712" y="4937760"/>
            <a:ext cx="91440" cy="91440"/>
          </a:xfrm>
          <a:prstGeom prst="ellipse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47872" y="48828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document suite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35040" y="1691640"/>
            <a:ext cx="2697480" cy="3200400"/>
          </a:xfrm>
          <a:prstGeom prst="rect">
            <a:avLst/>
          </a:prstGeom>
          <a:solidFill>
            <a:srgbClr val="0D1321"/>
          </a:solidFill>
          <a:ln w="8890">
            <a:solidFill>
              <a:srgbClr val="E879F9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035040" y="1691640"/>
            <a:ext cx="2697480" cy="109728"/>
          </a:xfrm>
          <a:prstGeom prst="rect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72200" y="185623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17220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79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6172200" y="28072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Accelerators &amp; Consultancies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72200" y="3118104"/>
            <a:ext cx="2423160" cy="0"/>
          </a:xfrm>
          <a:prstGeom prst="line">
            <a:avLst/>
          </a:prstGeom>
          <a:noFill/>
          <a:ln w="6350">
            <a:solidFill>
              <a:srgbClr val="1E2D4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45352" y="3291840"/>
            <a:ext cx="91440" cy="91440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82512" y="323697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Growth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245352" y="3621024"/>
            <a:ext cx="91440" cy="91440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82512" y="356616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White-label option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45352" y="3950208"/>
            <a:ext cx="91440" cy="91440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82512" y="3895344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Cohort management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245352" y="4279392"/>
            <a:ext cx="91440" cy="91440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82512" y="422452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API access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245352" y="4608576"/>
            <a:ext cx="91440" cy="91440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82512" y="4553712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success manager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6245352" y="4937760"/>
            <a:ext cx="91440" cy="91440"/>
          </a:xfrm>
          <a:prstGeom prst="ellipse">
            <a:avLst/>
          </a:prstGeom>
          <a:solidFill>
            <a:srgbClr val="E879F9"/>
          </a:solidFill>
          <a:ln w="12700">
            <a:solidFill>
              <a:srgbClr val="E879F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82512" y="4882896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 support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65760" y="471830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MOATS: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2103120" y="47183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Engine — 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2880360" y="4718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trust, MENA differentiator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389120" y="47183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— 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166360" y="4718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Cross-platform, stickier with usage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6675120" y="471830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Bridge — 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7452360" y="471830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Consulting revenue upsell channel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A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144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Time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Now.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74320" y="228600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is experiencing the most significant startup boom in its history — and founders have no unified platform to guide them.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$1T+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39136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 GDP driving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business formation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194560" y="33832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4.5x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194560" y="391363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growth in MENA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last 5 years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4320" y="42062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74320" y="473659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jurisdictions with no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legal guidance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89120" y="5486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Zero2Exit Wins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43400" y="1234440"/>
            <a:ext cx="4526280" cy="594360"/>
          </a:xfrm>
          <a:prstGeom prst="roundRect">
            <a:avLst>
              <a:gd name="adj" fmla="val 9231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1234440"/>
            <a:ext cx="502920" cy="594360"/>
          </a:xfrm>
          <a:prstGeom prst="rect">
            <a:avLst/>
          </a:prstGeom>
          <a:solidFill>
            <a:srgbClr val="A8E063">
              <a:alpha val="15000"/>
            </a:srgbClr>
          </a:solidFill>
          <a:ln w="6350">
            <a:solidFill>
              <a:srgbClr val="A8E0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43400" y="12344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19472" y="13075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Stage-aware by default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15453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existing tool routes founders by stage. Everyone gets generic.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43400" y="1947672"/>
            <a:ext cx="4526280" cy="594360"/>
          </a:xfrm>
          <a:prstGeom prst="roundRect">
            <a:avLst>
              <a:gd name="adj" fmla="val 9231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343400" y="1947672"/>
            <a:ext cx="502920" cy="594360"/>
          </a:xfrm>
          <a:prstGeom prst="rect">
            <a:avLst/>
          </a:prstGeom>
          <a:solidFill>
            <a:srgbClr val="A8E063">
              <a:alpha val="15000"/>
            </a:srgbClr>
          </a:solidFill>
          <a:ln w="6350">
            <a:solidFill>
              <a:srgbClr val="A8E0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43400" y="194767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19472" y="20208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MENA-first jurisdiction DB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19472" y="22585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jurisdictions including DIFC, ADGM, all GCC, Egypt, Jordan.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43400" y="2660904"/>
            <a:ext cx="4526280" cy="594360"/>
          </a:xfrm>
          <a:prstGeom prst="roundRect">
            <a:avLst>
              <a:gd name="adj" fmla="val 9231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43400" y="2660904"/>
            <a:ext cx="502920" cy="594360"/>
          </a:xfrm>
          <a:prstGeom prst="rect">
            <a:avLst/>
          </a:prstGeom>
          <a:solidFill>
            <a:srgbClr val="A8E063">
              <a:alpha val="15000"/>
            </a:srgbClr>
          </a:solidFill>
          <a:ln w="6350">
            <a:solidFill>
              <a:srgbClr val="A8E06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3400" y="266090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19472" y="273405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knows your business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9472" y="29718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Coach pulls context from every module — not a generic chatbot.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43400" y="3374136"/>
            <a:ext cx="4526280" cy="594360"/>
          </a:xfrm>
          <a:prstGeom prst="roundRect">
            <a:avLst>
              <a:gd name="adj" fmla="val 9231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43400" y="3374136"/>
            <a:ext cx="502920" cy="594360"/>
          </a:xfrm>
          <a:prstGeom prst="rect">
            <a:avLst/>
          </a:prstGeom>
          <a:solidFill>
            <a:srgbClr val="A8E063">
              <a:alpha val="15000"/>
            </a:srgbClr>
          </a:solidFill>
          <a:ln w="6350">
            <a:solidFill>
              <a:srgbClr val="A8E06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3400" y="337413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19472" y="344728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Outcome-linked modules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19472" y="368503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gate-check each other. Validation must pass before Legal.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343400" y="4087368"/>
            <a:ext cx="4526280" cy="594360"/>
          </a:xfrm>
          <a:prstGeom prst="roundRect">
            <a:avLst>
              <a:gd name="adj" fmla="val 9231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343400" y="4087368"/>
            <a:ext cx="502920" cy="594360"/>
          </a:xfrm>
          <a:prstGeom prst="rect">
            <a:avLst/>
          </a:prstGeom>
          <a:solidFill>
            <a:srgbClr val="A8E063">
              <a:alpha val="15000"/>
            </a:srgbClr>
          </a:solidFill>
          <a:ln w="6350">
            <a:solidFill>
              <a:srgbClr val="A8E06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43400" y="408736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8E0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919472" y="41605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data model, one account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919472" y="43982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outputs persist, accumulate, and compound across every stage.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029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priorities to move from blueprint to build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691640"/>
            <a:ext cx="4114800" cy="1143000"/>
          </a:xfrm>
          <a:prstGeom prst="roundRect">
            <a:avLst>
              <a:gd name="adj" fmla="val 4800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691640"/>
            <a:ext cx="50292" cy="11430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801368"/>
            <a:ext cx="475488" cy="347472"/>
          </a:xfrm>
          <a:prstGeom prst="roundRect">
            <a:avLst>
              <a:gd name="adj" fmla="val 13158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0136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88720" y="1801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11226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review the PostgreSQL schema for the routing engine, founder profiles, module progress, and document generation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54880" y="1691640"/>
            <a:ext cx="4114800" cy="1143000"/>
          </a:xfrm>
          <a:prstGeom prst="roundRect">
            <a:avLst>
              <a:gd name="adj" fmla="val 4800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691640"/>
            <a:ext cx="50292" cy="114300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0" y="1801368"/>
            <a:ext cx="475488" cy="347472"/>
          </a:xfrm>
          <a:prstGeom prst="roundRect">
            <a:avLst>
              <a:gd name="adj" fmla="val 13158"/>
            </a:avLst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80136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532120" y="18013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Contracts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32120" y="211226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tRPC router structure and API contracts for the stage classification endpoint and module activation plan response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017520"/>
            <a:ext cx="4114800" cy="1143000"/>
          </a:xfrm>
          <a:prstGeom prst="roundRect">
            <a:avLst>
              <a:gd name="adj" fmla="val 4800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017520"/>
            <a:ext cx="50292" cy="11430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4360" y="3127248"/>
            <a:ext cx="475488" cy="347472"/>
          </a:xfrm>
          <a:prstGeom prst="roundRect">
            <a:avLst>
              <a:gd name="adj" fmla="val 13158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12724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127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Questionnaire UX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88720" y="343814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PRD and Figma prototype for the onboarding questionnaire — the most critical UX moment in the entire platform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3017520"/>
            <a:ext cx="4114800" cy="1143000"/>
          </a:xfrm>
          <a:prstGeom prst="roundRect">
            <a:avLst>
              <a:gd name="adj" fmla="val 4800"/>
            </a:avLst>
          </a:prstGeom>
          <a:solidFill>
            <a:srgbClr val="0D1321"/>
          </a:solidFill>
          <a:ln w="6350">
            <a:solidFill>
              <a:srgbClr val="1E2D4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017520"/>
            <a:ext cx="50292" cy="1143000"/>
          </a:xfrm>
          <a:prstGeom prst="rect">
            <a:avLst/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37760" y="3127248"/>
            <a:ext cx="475488" cy="347472"/>
          </a:xfrm>
          <a:prstGeom prst="roundRect">
            <a:avLst>
              <a:gd name="adj" fmla="val 13158"/>
            </a:avLst>
          </a:prstGeom>
          <a:solidFill>
            <a:srgbClr val="A8E063"/>
          </a:solidFill>
          <a:ln w="12700">
            <a:solidFill>
              <a:srgbClr val="A8E06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127248"/>
            <a:ext cx="475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0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32120" y="3127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Prompt Engineering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32120" y="343814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and test the stage classifier system prompt, module routing logic, and AI Coach context pre-loading prompts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572000"/>
            <a:ext cx="9144000" cy="571500"/>
          </a:xfrm>
          <a:prstGeom prst="rect">
            <a:avLst/>
          </a:prstGeom>
          <a:solidFill>
            <a:srgbClr val="111C2E"/>
          </a:solidFill>
          <a:ln w="12700">
            <a:solidFill>
              <a:srgbClr val="111C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700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Zero2Exit PaaS   |   Platform Blueprint v2.0   |   Confidential — For Developer Discussion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Zero2Exit — PaaS Platform Overview</dc:title>
  <dc:subject>PptxGenJS Presentation</dc:subject>
  <dc:creator>Zero2Exit</dc:creator>
  <cp:lastModifiedBy>Zero2Exit</cp:lastModifiedBy>
  <cp:revision>1</cp:revision>
  <dcterms:created xsi:type="dcterms:W3CDTF">2026-03-02T10:46:42Z</dcterms:created>
  <dcterms:modified xsi:type="dcterms:W3CDTF">2026-03-02T10:46:42Z</dcterms:modified>
</cp:coreProperties>
</file>